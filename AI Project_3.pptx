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Suranna"/>
      <p:regular r:id="rId11"/>
    </p:embeddedFont>
    <p:embeddedFont>
      <p:font typeface="Josefin Sans Thin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uranna-regular.fntdata"/><Relationship Id="rId10" Type="http://schemas.openxmlformats.org/officeDocument/2006/relationships/slide" Target="slides/slide6.xml"/><Relationship Id="rId13" Type="http://schemas.openxmlformats.org/officeDocument/2006/relationships/font" Target="fonts/JosefinSansThin-bold.fntdata"/><Relationship Id="rId12" Type="http://schemas.openxmlformats.org/officeDocument/2006/relationships/font" Target="fonts/JosefinSansThi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osefinSansThin-boldItalic.fntdata"/><Relationship Id="rId14" Type="http://schemas.openxmlformats.org/officeDocument/2006/relationships/font" Target="fonts/JosefinSansThin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17904" y="1517904"/>
            <a:ext cx="9144000" cy="2798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17904" y="4572000"/>
            <a:ext cx="914400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517904" y="1517904"/>
            <a:ext cx="9144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517904" y="4572000"/>
            <a:ext cx="91440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1517904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336792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517905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517904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336792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336792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330952" y="1517904"/>
            <a:ext cx="5330952" cy="4581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3200"/>
              <a:buChar char="+"/>
              <a:defRPr sz="32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/>
            </a:lvl2pPr>
            <a:lvl3pPr indent="-3810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400"/>
              <a:buChar char="+"/>
              <a:defRPr sz="24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venir"/>
              <a:buNone/>
              <a:defRPr sz="2000"/>
            </a:lvl4pPr>
            <a:lvl5pPr indent="-355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000"/>
              <a:buChar char="+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349240" y="764032"/>
            <a:ext cx="6089904" cy="533095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4526280" y="-36576"/>
            <a:ext cx="3127248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7287289" y="2680932"/>
            <a:ext cx="4546786" cy="2220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2525788" y="510021"/>
            <a:ext cx="4546786" cy="6562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  <a:defRPr b="0" i="0" sz="4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Pts val="2600"/>
              <a:buFont typeface="Avenir"/>
              <a:buChar char="+"/>
              <a:defRPr b="0" i="0" sz="2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Char char="+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venir"/>
              <a:buNone/>
              <a:defRPr b="0" i="1" sz="18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Char char="+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hyperlink" Target="https://docs.google.com/document/d/1yEXV8Ztx4N3T0behqWCct0HeR8IBingKl0g5DsruM2M/edit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hyperlink" Target="https://colab.research.google.com/drive/1dBlXh0lXf0Fx-0jezNH_PplW7JWdAr-P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6047980" y="1030406"/>
            <a:ext cx="5068121" cy="3506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haroni"/>
              <a:buNone/>
            </a:pPr>
            <a:r>
              <a:rPr lang="en-US" sz="3300"/>
              <a:t>“Comparative Analysis of Multivariable Linear Regression on Diabetes Data: Raw Code vs. SK-Learn Implementation”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047980" y="4691564"/>
            <a:ext cx="5068121" cy="1658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454025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Shariar Nasim Neon (21101062)</a:t>
            </a:r>
            <a:endParaRPr/>
          </a:p>
          <a:p>
            <a:pPr indent="0" lvl="0" marL="454025" rtl="0" algn="ctr">
              <a:lnSpc>
                <a:spcPct val="105000"/>
              </a:lnSpc>
              <a:spcBef>
                <a:spcPts val="1360"/>
              </a:spcBef>
              <a:spcAft>
                <a:spcPts val="0"/>
              </a:spcAft>
              <a:buSzPct val="10000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Junaed Hossain Jibon (21101056)</a:t>
            </a:r>
            <a:endParaRPr/>
          </a:p>
          <a:p>
            <a:pPr indent="0" lvl="0" marL="454025" rtl="0" algn="ctr">
              <a:lnSpc>
                <a:spcPct val="105000"/>
              </a:lnSpc>
              <a:spcBef>
                <a:spcPts val="1360"/>
              </a:spcBef>
              <a:spcAft>
                <a:spcPts val="0"/>
              </a:spcAft>
              <a:buSzPct val="100000"/>
              <a:buNone/>
            </a:pPr>
            <a:r>
              <a:rPr b="1" i="0" lang="en-US" sz="1800" u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Rais Uddin Ahmmed(21101064)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492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-1" l="1585" r="45811" t="0"/>
          <a:stretch/>
        </p:blipFill>
        <p:spPr>
          <a:xfrm>
            <a:off x="20" y="10"/>
            <a:ext cx="5404493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0" y="0"/>
            <a:ext cx="12192000" cy="6099048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0" y="-1"/>
            <a:ext cx="11430001" cy="6175613"/>
          </a:xfrm>
          <a:custGeom>
            <a:rect b="b" l="l" r="r" t="t"/>
            <a:pathLst>
              <a:path extrusionOk="0" h="6175613" w="11430001">
                <a:moveTo>
                  <a:pt x="0" y="0"/>
                </a:moveTo>
                <a:lnTo>
                  <a:pt x="5638031" y="0"/>
                </a:lnTo>
                <a:lnTo>
                  <a:pt x="5638031" y="758954"/>
                </a:lnTo>
                <a:lnTo>
                  <a:pt x="11430001" y="758954"/>
                </a:lnTo>
                <a:lnTo>
                  <a:pt x="11430001" y="6175613"/>
                </a:lnTo>
                <a:lnTo>
                  <a:pt x="5638031" y="6175613"/>
                </a:lnTo>
                <a:lnTo>
                  <a:pt x="5240741" y="6175613"/>
                </a:lnTo>
                <a:lnTo>
                  <a:pt x="0" y="61756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762000" y="758953"/>
            <a:ext cx="4089779" cy="2028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lang="en-US" sz="420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TABLE OF CONTENTS </a:t>
            </a:r>
            <a:endParaRPr sz="4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4053840" y="1320800"/>
            <a:ext cx="7061200" cy="4775200"/>
            <a:chOff x="0" y="0"/>
            <a:chExt cx="15576318" cy="8894575"/>
          </a:xfrm>
        </p:grpSpPr>
        <p:sp>
          <p:nvSpPr>
            <p:cNvPr id="99" name="Google Shape;99;p14"/>
            <p:cNvSpPr/>
            <p:nvPr/>
          </p:nvSpPr>
          <p:spPr>
            <a:xfrm>
              <a:off x="3596387" y="0"/>
              <a:ext cx="11979931" cy="1996702"/>
            </a:xfrm>
            <a:custGeom>
              <a:rect b="b" l="l" r="r" t="t"/>
              <a:pathLst>
                <a:path extrusionOk="0" h="1913890" w="11483072">
                  <a:moveTo>
                    <a:pt x="11358612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358612" y="0"/>
                  </a:lnTo>
                  <a:cubicBezTo>
                    <a:pt x="11427192" y="0"/>
                    <a:pt x="11483072" y="55880"/>
                    <a:pt x="11483072" y="124460"/>
                  </a:cubicBezTo>
                  <a:lnTo>
                    <a:pt x="11483072" y="1789430"/>
                  </a:lnTo>
                  <a:cubicBezTo>
                    <a:pt x="11483072" y="1858010"/>
                    <a:pt x="11427192" y="1913890"/>
                    <a:pt x="11358612" y="19138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0" y="0"/>
              <a:ext cx="4152115" cy="1996702"/>
            </a:xfrm>
            <a:custGeom>
              <a:rect b="b" l="l" r="r" t="t"/>
              <a:pathLst>
                <a:path extrusionOk="0" h="1913890" w="3979909">
                  <a:moveTo>
                    <a:pt x="3855449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55449" y="0"/>
                  </a:lnTo>
                  <a:cubicBezTo>
                    <a:pt x="3924029" y="0"/>
                    <a:pt x="3979909" y="55880"/>
                    <a:pt x="3979909" y="124460"/>
                  </a:cubicBezTo>
                  <a:lnTo>
                    <a:pt x="3979909" y="1789430"/>
                  </a:lnTo>
                  <a:cubicBezTo>
                    <a:pt x="3979909" y="1858010"/>
                    <a:pt x="3924029" y="1913890"/>
                    <a:pt x="3855449" y="1913890"/>
                  </a:cubicBezTo>
                  <a:close/>
                </a:path>
              </a:pathLst>
            </a:custGeom>
            <a:solidFill>
              <a:srgbClr val="9669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5366878" y="813033"/>
              <a:ext cx="8757689" cy="598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13">
                  <a:solidFill>
                    <a:srgbClr val="FFFFFF"/>
                  </a:solidFill>
                  <a:latin typeface="Josefin Sans Thin"/>
                  <a:ea typeface="Josefin Sans Thin"/>
                  <a:cs typeface="Josefin Sans Thin"/>
                  <a:sym typeface="Josefin Sans Thin"/>
                </a:rPr>
                <a:t>Problem Statement</a:t>
              </a:r>
              <a:endParaRPr sz="3054">
                <a:solidFill>
                  <a:srgbClr val="FFFFFF"/>
                </a:solidFill>
                <a:latin typeface="Josefin Sans Thin"/>
                <a:ea typeface="Josefin Sans Thin"/>
                <a:cs typeface="Josefin Sans Thin"/>
                <a:sym typeface="Josefin Sans Thin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889637" y="703915"/>
              <a:ext cx="2660346" cy="600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Suranna"/>
                  <a:ea typeface="Suranna"/>
                  <a:cs typeface="Suranna"/>
                  <a:sym typeface="Suranna"/>
                </a:rPr>
                <a:t>01.</a:t>
              </a:r>
              <a:endParaRPr sz="3139">
                <a:solidFill>
                  <a:srgbClr val="FFFFFF"/>
                </a:solidFill>
                <a:latin typeface="Suranna"/>
                <a:ea typeface="Suranna"/>
                <a:cs typeface="Suranna"/>
                <a:sym typeface="Suranna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596387" y="2299003"/>
              <a:ext cx="11979931" cy="1996702"/>
            </a:xfrm>
            <a:custGeom>
              <a:rect b="b" l="l" r="r" t="t"/>
              <a:pathLst>
                <a:path extrusionOk="0" h="1913890" w="11483072">
                  <a:moveTo>
                    <a:pt x="11358612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358612" y="0"/>
                  </a:lnTo>
                  <a:cubicBezTo>
                    <a:pt x="11427192" y="0"/>
                    <a:pt x="11483072" y="55880"/>
                    <a:pt x="11483072" y="124460"/>
                  </a:cubicBezTo>
                  <a:lnTo>
                    <a:pt x="11483072" y="1789430"/>
                  </a:lnTo>
                  <a:cubicBezTo>
                    <a:pt x="11483072" y="1858010"/>
                    <a:pt x="11427192" y="1913890"/>
                    <a:pt x="11358612" y="19138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0" y="2299003"/>
              <a:ext cx="4152115" cy="1996702"/>
            </a:xfrm>
            <a:custGeom>
              <a:rect b="b" l="l" r="r" t="t"/>
              <a:pathLst>
                <a:path extrusionOk="0" h="1913890" w="3979909">
                  <a:moveTo>
                    <a:pt x="3855449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55449" y="0"/>
                  </a:lnTo>
                  <a:cubicBezTo>
                    <a:pt x="3924029" y="0"/>
                    <a:pt x="3979909" y="55880"/>
                    <a:pt x="3979909" y="124460"/>
                  </a:cubicBezTo>
                  <a:lnTo>
                    <a:pt x="3979909" y="1789430"/>
                  </a:lnTo>
                  <a:cubicBezTo>
                    <a:pt x="3979909" y="1858010"/>
                    <a:pt x="3924029" y="1913890"/>
                    <a:pt x="3855449" y="1913890"/>
                  </a:cubicBezTo>
                  <a:close/>
                </a:path>
              </a:pathLst>
            </a:custGeom>
            <a:solidFill>
              <a:srgbClr val="9669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889637" y="3002918"/>
              <a:ext cx="2660346" cy="600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Suranna"/>
                  <a:ea typeface="Suranna"/>
                  <a:cs typeface="Suranna"/>
                  <a:sym typeface="Suranna"/>
                </a:rPr>
                <a:t>02.</a:t>
              </a:r>
              <a:endParaRPr sz="3139">
                <a:solidFill>
                  <a:srgbClr val="FFFFFF"/>
                </a:solidFill>
                <a:latin typeface="Suranna"/>
                <a:ea typeface="Suranna"/>
                <a:cs typeface="Suranna"/>
                <a:sym typeface="Suranna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5491042" y="3011054"/>
              <a:ext cx="8757689" cy="598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13">
                  <a:solidFill>
                    <a:srgbClr val="FFFFFF"/>
                  </a:solidFill>
                  <a:latin typeface="Josefin Sans Thin"/>
                  <a:ea typeface="Josefin Sans Thin"/>
                  <a:cs typeface="Josefin Sans Thin"/>
                  <a:sym typeface="Josefin Sans Thin"/>
                </a:rPr>
                <a:t>Technical Report</a:t>
              </a:r>
              <a:endParaRPr sz="3054">
                <a:solidFill>
                  <a:srgbClr val="FFFFFF"/>
                </a:solidFill>
                <a:latin typeface="Josefin Sans Thin"/>
                <a:ea typeface="Josefin Sans Thin"/>
                <a:cs typeface="Josefin Sans Thin"/>
                <a:sym typeface="Josefin Sans Th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3596387" y="4598006"/>
              <a:ext cx="11979931" cy="1996702"/>
            </a:xfrm>
            <a:custGeom>
              <a:rect b="b" l="l" r="r" t="t"/>
              <a:pathLst>
                <a:path extrusionOk="0" h="1913890" w="11483072">
                  <a:moveTo>
                    <a:pt x="11358612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358612" y="0"/>
                  </a:lnTo>
                  <a:cubicBezTo>
                    <a:pt x="11427192" y="0"/>
                    <a:pt x="11483072" y="55880"/>
                    <a:pt x="11483072" y="124460"/>
                  </a:cubicBezTo>
                  <a:lnTo>
                    <a:pt x="11483072" y="1789430"/>
                  </a:lnTo>
                  <a:cubicBezTo>
                    <a:pt x="11483072" y="1858010"/>
                    <a:pt x="11427192" y="1913890"/>
                    <a:pt x="11358612" y="19138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0" y="4598006"/>
              <a:ext cx="4152115" cy="1996702"/>
            </a:xfrm>
            <a:custGeom>
              <a:rect b="b" l="l" r="r" t="t"/>
              <a:pathLst>
                <a:path extrusionOk="0" h="1913890" w="3979909">
                  <a:moveTo>
                    <a:pt x="3855449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55449" y="0"/>
                  </a:lnTo>
                  <a:cubicBezTo>
                    <a:pt x="3924029" y="0"/>
                    <a:pt x="3979909" y="55880"/>
                    <a:pt x="3979909" y="124460"/>
                  </a:cubicBezTo>
                  <a:lnTo>
                    <a:pt x="3979909" y="1789430"/>
                  </a:lnTo>
                  <a:cubicBezTo>
                    <a:pt x="3979909" y="1858010"/>
                    <a:pt x="3924029" y="1913890"/>
                    <a:pt x="3855449" y="1913890"/>
                  </a:cubicBezTo>
                  <a:close/>
                </a:path>
              </a:pathLst>
            </a:custGeom>
            <a:solidFill>
              <a:srgbClr val="9669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889637" y="5301921"/>
              <a:ext cx="2660346" cy="600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Suranna"/>
                  <a:ea typeface="Suranna"/>
                  <a:cs typeface="Suranna"/>
                  <a:sym typeface="Suranna"/>
                </a:rPr>
                <a:t>03.</a:t>
              </a:r>
              <a:endParaRPr sz="3139">
                <a:solidFill>
                  <a:srgbClr val="FFFFFF"/>
                </a:solidFill>
                <a:latin typeface="Suranna"/>
                <a:ea typeface="Suranna"/>
                <a:cs typeface="Suranna"/>
                <a:sym typeface="Suranna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5615206" y="5209075"/>
              <a:ext cx="8757689" cy="598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13">
                  <a:solidFill>
                    <a:srgbClr val="FFFFFF"/>
                  </a:solidFill>
                  <a:latin typeface="Josefin Sans Thin"/>
                  <a:ea typeface="Josefin Sans Thin"/>
                  <a:cs typeface="Josefin Sans Thin"/>
                  <a:sym typeface="Josefin Sans Thin"/>
                </a:rPr>
                <a:t>Source Code</a:t>
              </a:r>
              <a:endParaRPr sz="3054">
                <a:solidFill>
                  <a:srgbClr val="FFFFFF"/>
                </a:solidFill>
                <a:latin typeface="Josefin Sans Thin"/>
                <a:ea typeface="Josefin Sans Thin"/>
                <a:cs typeface="Josefin Sans Thin"/>
                <a:sym typeface="Josefin Sans Th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596387" y="6897873"/>
              <a:ext cx="11979931" cy="1996702"/>
            </a:xfrm>
            <a:custGeom>
              <a:rect b="b" l="l" r="r" t="t"/>
              <a:pathLst>
                <a:path extrusionOk="0" h="1913890" w="11483072">
                  <a:moveTo>
                    <a:pt x="11358612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358612" y="0"/>
                  </a:lnTo>
                  <a:cubicBezTo>
                    <a:pt x="11427192" y="0"/>
                    <a:pt x="11483072" y="55880"/>
                    <a:pt x="11483072" y="124460"/>
                  </a:cubicBezTo>
                  <a:lnTo>
                    <a:pt x="11483072" y="1789430"/>
                  </a:lnTo>
                  <a:cubicBezTo>
                    <a:pt x="11483072" y="1858010"/>
                    <a:pt x="11427192" y="1913890"/>
                    <a:pt x="11358612" y="19138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6897873"/>
              <a:ext cx="4152115" cy="1996702"/>
            </a:xfrm>
            <a:custGeom>
              <a:rect b="b" l="l" r="r" t="t"/>
              <a:pathLst>
                <a:path extrusionOk="0" h="1913890" w="3979909">
                  <a:moveTo>
                    <a:pt x="3855449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855449" y="0"/>
                  </a:lnTo>
                  <a:cubicBezTo>
                    <a:pt x="3924029" y="0"/>
                    <a:pt x="3979909" y="55880"/>
                    <a:pt x="3979909" y="124460"/>
                  </a:cubicBezTo>
                  <a:lnTo>
                    <a:pt x="3979909" y="1789430"/>
                  </a:lnTo>
                  <a:cubicBezTo>
                    <a:pt x="3979909" y="1858010"/>
                    <a:pt x="3924029" y="1913890"/>
                    <a:pt x="3855449" y="1913890"/>
                  </a:cubicBezTo>
                  <a:close/>
                </a:path>
              </a:pathLst>
            </a:custGeom>
            <a:solidFill>
              <a:srgbClr val="9669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889637" y="7601788"/>
              <a:ext cx="2660346" cy="600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Suranna"/>
                  <a:ea typeface="Suranna"/>
                  <a:cs typeface="Suranna"/>
                  <a:sym typeface="Suranna"/>
                </a:rPr>
                <a:t>04.</a:t>
              </a:r>
              <a:endParaRPr sz="3139">
                <a:solidFill>
                  <a:srgbClr val="FFFFFF"/>
                </a:solidFill>
                <a:latin typeface="Suranna"/>
                <a:ea typeface="Suranna"/>
                <a:cs typeface="Suranna"/>
                <a:sym typeface="Suranna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4873635" y="7612203"/>
              <a:ext cx="8757689" cy="598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13">
                  <a:solidFill>
                    <a:srgbClr val="FFFFFF"/>
                  </a:solidFill>
                  <a:latin typeface="Josefin Sans Thin"/>
                  <a:ea typeface="Josefin Sans Thin"/>
                  <a:cs typeface="Josefin Sans Thin"/>
                  <a:sym typeface="Josefin Sans Thin"/>
                </a:rPr>
                <a:t>Conclusion</a:t>
              </a:r>
              <a:endParaRPr sz="3054">
                <a:solidFill>
                  <a:srgbClr val="FFFFFF"/>
                </a:solidFill>
                <a:latin typeface="Josefin Sans Thin"/>
                <a:ea typeface="Josefin Sans Thin"/>
                <a:cs typeface="Josefin Sans Thin"/>
                <a:sym typeface="Josefin Sans Thi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1" name="Google Shape;121;p15"/>
          <p:cNvSpPr txBox="1"/>
          <p:nvPr>
            <p:ph type="title"/>
          </p:nvPr>
        </p:nvSpPr>
        <p:spPr>
          <a:xfrm>
            <a:off x="6047980" y="1030406"/>
            <a:ext cx="5068121" cy="3506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047980" y="4537286"/>
            <a:ext cx="5068121" cy="1290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0" lang="en-US" sz="1600" u="none" strike="noStrike"/>
              <a:t>The task involves implementing multivariable linear regression using an open-source dataset. The objective is to compare the implementations done without using the SK-Learn library (raw code) and with SK-Learn. This comparison aims to understand the differences in implementation, performance, and ease of use between the two methods</a:t>
            </a:r>
            <a:r>
              <a:rPr b="0" i="0" lang="en-US" sz="1100" u="none" strike="noStrike"/>
              <a:t>.</a:t>
            </a:r>
            <a:endParaRPr sz="1100"/>
          </a:p>
        </p:txBody>
      </p:sp>
      <p:pic>
        <p:nvPicPr>
          <p:cNvPr descr="Codes on papers" id="123" name="Google Shape;123;p15"/>
          <p:cNvPicPr preferRelativeResize="0"/>
          <p:nvPr/>
        </p:nvPicPr>
        <p:blipFill rotWithShape="1">
          <a:blip r:embed="rId3">
            <a:alphaModFix/>
          </a:blip>
          <a:srcRect b="-1" l="24672" r="22724" t="0"/>
          <a:stretch/>
        </p:blipFill>
        <p:spPr>
          <a:xfrm>
            <a:off x="20" y="10"/>
            <a:ext cx="5404493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ph on document with pen" id="130" name="Google Shape;130;p16"/>
          <p:cNvPicPr preferRelativeResize="0"/>
          <p:nvPr/>
        </p:nvPicPr>
        <p:blipFill rotWithShape="1">
          <a:blip r:embed="rId3">
            <a:alphaModFix/>
          </a:blip>
          <a:srcRect b="14220" l="0" r="0" t="1509"/>
          <a:stretch/>
        </p:blipFill>
        <p:spPr>
          <a:xfrm>
            <a:off x="20" y="10"/>
            <a:ext cx="1219197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 rot="-5400000">
            <a:off x="3799868" y="-1534136"/>
            <a:ext cx="4592270" cy="12192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1000">
                <a:srgbClr val="000000">
                  <a:alpha val="29803"/>
                </a:srgbClr>
              </a:gs>
              <a:gs pos="35000">
                <a:srgbClr val="000000">
                  <a:alpha val="45882"/>
                </a:srgbClr>
              </a:gs>
              <a:gs pos="100000">
                <a:srgbClr val="000000">
                  <a:alpha val="8000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2" name="Google Shape;132;p16"/>
          <p:cNvSpPr txBox="1"/>
          <p:nvPr>
            <p:ph type="title"/>
          </p:nvPr>
        </p:nvSpPr>
        <p:spPr>
          <a:xfrm>
            <a:off x="762000" y="3651624"/>
            <a:ext cx="10668000" cy="17750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haroni"/>
              <a:buNone/>
            </a:pPr>
            <a:r>
              <a:rPr lang="en-US" sz="5600">
                <a:solidFill>
                  <a:schemeClr val="lt1"/>
                </a:solidFill>
              </a:rPr>
              <a:t>Technical Report</a:t>
            </a:r>
            <a:br>
              <a:rPr lang="en-US" sz="5600">
                <a:solidFill>
                  <a:schemeClr val="lt1"/>
                </a:solidFill>
              </a:rPr>
            </a:br>
            <a:endParaRPr sz="5600">
              <a:solidFill>
                <a:schemeClr val="lt1"/>
              </a:solidFill>
            </a:endParaRPr>
          </a:p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762000" y="5426635"/>
            <a:ext cx="10668000" cy="797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https://docs.google.com/document/d/1yEXV8Ztx4N3T0behqWCct0HeR8IBingKl0g5DsruM2M/edit?usp=sharing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101010 data lines to infinity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13126"/>
          <a:stretch/>
        </p:blipFill>
        <p:spPr>
          <a:xfrm>
            <a:off x="20" y="10"/>
            <a:ext cx="1219197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 rot="-5400000">
            <a:off x="3799868" y="-1534136"/>
            <a:ext cx="4592270" cy="12192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1000">
                <a:srgbClr val="000000">
                  <a:alpha val="29803"/>
                </a:srgbClr>
              </a:gs>
              <a:gs pos="35000">
                <a:srgbClr val="000000">
                  <a:alpha val="45882"/>
                </a:srgbClr>
              </a:gs>
              <a:gs pos="100000">
                <a:srgbClr val="000000">
                  <a:alpha val="8000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" name="Google Shape;142;p17"/>
          <p:cNvSpPr txBox="1"/>
          <p:nvPr>
            <p:ph type="title"/>
          </p:nvPr>
        </p:nvSpPr>
        <p:spPr>
          <a:xfrm>
            <a:off x="762000" y="3651624"/>
            <a:ext cx="10668000" cy="17750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haroni"/>
              <a:buNone/>
            </a:pPr>
            <a:r>
              <a:rPr lang="en-US" sz="5600">
                <a:solidFill>
                  <a:schemeClr val="lt1"/>
                </a:solidFill>
              </a:rPr>
              <a:t>SOURCE CODE</a:t>
            </a:r>
            <a:br>
              <a:rPr lang="en-US" sz="5600">
                <a:solidFill>
                  <a:schemeClr val="lt1"/>
                </a:solidFill>
              </a:rPr>
            </a:br>
            <a:endParaRPr sz="5600">
              <a:solidFill>
                <a:schemeClr val="lt1"/>
              </a:solidFill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62000" y="5426635"/>
            <a:ext cx="10668000" cy="797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https://colab.research.google.com/drive/1dBlXh0lXf0Fx-0jezNH_PplW7JWdAr-P?usp=sharing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DC3F0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erial view of a highway near the ocean" id="150" name="Google Shape;150;p18"/>
          <p:cNvPicPr preferRelativeResize="0"/>
          <p:nvPr/>
        </p:nvPicPr>
        <p:blipFill rotWithShape="1">
          <a:blip r:embed="rId3">
            <a:alphaModFix/>
          </a:blip>
          <a:srcRect b="19142" l="0" r="0" t="5858"/>
          <a:stretch/>
        </p:blipFill>
        <p:spPr>
          <a:xfrm>
            <a:off x="20" y="10"/>
            <a:ext cx="1219197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 rot="-5400000">
            <a:off x="3799868" y="-1534136"/>
            <a:ext cx="4592270" cy="12192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1000">
                <a:srgbClr val="000000">
                  <a:alpha val="29803"/>
                </a:srgbClr>
              </a:gs>
              <a:gs pos="35000">
                <a:srgbClr val="000000">
                  <a:alpha val="45882"/>
                </a:srgbClr>
              </a:gs>
              <a:gs pos="100000">
                <a:srgbClr val="000000">
                  <a:alpha val="8000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3651624"/>
            <a:ext cx="10668000" cy="17750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Aharoni"/>
                <a:ea typeface="Aharoni"/>
                <a:cs typeface="Aharoni"/>
                <a:sym typeface="Aharon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smaticVTI">
  <a:themeElements>
    <a:clrScheme name="AnalogousFromRegularSeedLeftStep">
      <a:dk1>
        <a:srgbClr val="000000"/>
      </a:dk1>
      <a:lt1>
        <a:srgbClr val="FFFFFF"/>
      </a:lt1>
      <a:dk2>
        <a:srgbClr val="1B2431"/>
      </a:dk2>
      <a:lt2>
        <a:srgbClr val="F3F3F0"/>
      </a:lt2>
      <a:accent1>
        <a:srgbClr val="5429E7"/>
      </a:accent1>
      <a:accent2>
        <a:srgbClr val="1B3ED6"/>
      </a:accent2>
      <a:accent3>
        <a:srgbClr val="299CE7"/>
      </a:accent3>
      <a:accent4>
        <a:srgbClr val="15C0BC"/>
      </a:accent4>
      <a:accent5>
        <a:srgbClr val="23C57E"/>
      </a:accent5>
      <a:accent6>
        <a:srgbClr val="16C72F"/>
      </a:accent6>
      <a:hlink>
        <a:srgbClr val="7F953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